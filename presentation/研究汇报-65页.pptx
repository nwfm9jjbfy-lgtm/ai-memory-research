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8" r:id="rId63"/>
    <p:sldId id="319" r:id="rId64"/>
    <p:sldId id="320" r:id="rId65"/>
    <p:sldId id="321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2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684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45 秒（每人约 6–11 分钟版）</a:t>
            </a:r>
          </a:p>
          <a:p>
            <a:r>
              <a:t>封面。开场 45 秒：主持人万丰睿自我介绍 + 为什么讲内存（AI 热、内存贵）+ 12 人分工。</a:t>
            </a:r>
          </a:p>
          <a:p/>
          <a:p/>
          <a:p>
            <a:r>
              <a:t>全片合计约 101:59（12 人 × 约 6–11 分钟 + 视频 130 秒 + 结尾页）。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34 秒（每人约 6–11 分钟版）</a:t>
            </a:r>
          </a:p>
          <a:p>
            <a:r>
              <a:t>第 01 段 · 齐景睿｜内存条是什么</a:t>
            </a:r>
          </a:p>
          <a:p>
            <a:r>
              <a:t>一句话：它是 CPU 的工作台，不是仓库</a:t>
            </a:r>
          </a:p>
          <a:p>
            <a:r>
              <a:t>讲 34 秒，把人名、题目、一句话交代清楚就翻页。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135 秒（每人约 6–11 分钟版）</a:t>
            </a:r>
          </a:p>
          <a:p>
            <a:r>
              <a:t>观点页。先把这句话说清楚：断电就清空，所以它只放“正在用”的东西</a:t>
            </a:r>
          </a:p>
          <a:p>
            <a:r>
              <a:t>长期保存，是硬盘的事，而硬盘决定“还能不能找回来”</a:t>
            </a:r>
          </a:p>
          <a:p>
            <a:r>
              <a:t>停顿 2 秒，再翻证据页。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202 秒（每人约 6–11 分钟版）</a:t>
            </a:r>
          </a:p>
          <a:p>
            <a:r>
              <a:t>证据页：一条内存条里有什么</a:t>
            </a:r>
          </a:p>
          <a:p>
            <a:r>
              <a:t>要点：DRAM 颗粒；金手指；SPD 芯片</a:t>
            </a:r>
          </a:p>
          <a:p>
            <a:r>
              <a:t>注：SPD 芯片记录时序与容量，主板开机时先读它，再决定以什么速度跑</a:t>
            </a:r>
          </a:p>
          <a:p>
            <a:r>
              <a:t>讲足 202 秒：先念要点，再补一句自己的解释。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135 秒（每人约 6–11 分钟版）</a:t>
            </a:r>
          </a:p>
          <a:p>
            <a:r>
              <a:t>结论页：买内存 = 容量 + 速度 + 兼容</a:t>
            </a:r>
          </a:p>
          <a:p>
            <a:r>
              <a:t>只看容量，是最常见的一次踩坑；内存是工作台，硬盘是仓库，混用这两个词就会买错</a:t>
            </a:r>
          </a:p>
          <a:p>
            <a:r>
              <a:t>停 3 秒收住，再交棒。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56 秒（每人约 6–11 分钟版）</a:t>
            </a:r>
          </a:p>
          <a:p>
            <a:r>
              <a:t>交棒页：有请宋明喆来讲。</a:t>
            </a:r>
          </a:p>
          <a:p>
            <a:r>
              <a:t>翻页前说：有请宋明喆来讲。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39 秒（每人约 6–11 分钟版）</a:t>
            </a:r>
          </a:p>
          <a:p>
            <a:r>
              <a:t>第 02 段 · 宋明喆｜AI 是什么</a:t>
            </a:r>
          </a:p>
          <a:p>
            <a:r>
              <a:t>一句话：它在做一件事：预测下一个词</a:t>
            </a:r>
          </a:p>
          <a:p>
            <a:r>
              <a:t>讲 39 秒，把人名、题目、一句话交代清楚就翻页。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157 秒（每人约 6–11 分钟版）</a:t>
            </a:r>
          </a:p>
          <a:p>
            <a:r>
              <a:t>观点页。先把这句话说清楚：每一次回答，都是一次超大规模的矩阵乘法</a:t>
            </a:r>
          </a:p>
          <a:p>
            <a:r>
              <a:t>看起来像聊天，算起来是算术，不是“懂语言”，而是“会算概率”</a:t>
            </a:r>
          </a:p>
          <a:p>
            <a:r>
              <a:t>停顿 2 秒，再翻证据页。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235 秒（每人约 6–11 分钟版）</a:t>
            </a:r>
          </a:p>
          <a:p>
            <a:r>
              <a:t>证据页：AI 的三个数字</a:t>
            </a:r>
          </a:p>
          <a:p>
            <a:r>
              <a:t>要点：7B；2 字节；1 个</a:t>
            </a:r>
          </a:p>
          <a:p>
            <a:r>
              <a:t>注：参数越多，能力越强，要搬运的数据也越多 权重之外还有 KV 缓存与临时张量，所以“参数一样”不等于“占用一样”</a:t>
            </a:r>
          </a:p>
          <a:p>
            <a:r>
              <a:t>讲足 235 秒：先念要点，再补一句自己的解释。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157 秒（每人约 6–11 分钟版）</a:t>
            </a:r>
          </a:p>
          <a:p>
            <a:r>
              <a:t>结论页：AI 的能力来自参数，AI 的成本也来自参数</a:t>
            </a:r>
          </a:p>
          <a:p>
            <a:r>
              <a:t>这就是它和内存扯上关系的地方；算得快不快，取决于数据搬得快不快</a:t>
            </a:r>
          </a:p>
          <a:p>
            <a:r>
              <a:t>停 3 秒收住，再交棒。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65 秒（每人约 6–11 分钟版）</a:t>
            </a:r>
          </a:p>
          <a:p>
            <a:r>
              <a:t>交棒页：有请万丰睿来讲。</a:t>
            </a:r>
          </a:p>
          <a:p>
            <a:r>
              <a:t>翻页前说：有请万丰睿来讲。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32 秒（每人约 6–11 分钟版）</a:t>
            </a:r>
          </a:p>
          <a:p>
            <a:r>
              <a:t>第 03 段 · 万丰睿｜CS 吃 CPU 还是内存条</a:t>
            </a:r>
          </a:p>
          <a:p>
            <a:r>
              <a:t>一句话：官方最低配置写的是「三件套」</a:t>
            </a:r>
          </a:p>
          <a:p>
            <a:r>
              <a:t>讲 32 秒，把人名、题目、一句话交代清楚就翻页。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129 秒（每人约 6–11 分钟版）</a:t>
            </a:r>
          </a:p>
          <a:p>
            <a:r>
              <a:t>观点页。先把这句话说清楚：官方最低配置，写的是“三件套”</a:t>
            </a:r>
          </a:p>
          <a:p>
            <a:r>
              <a:t>不是只写内存，也不是只写 CPU，而是三件套：线程、内存、显存</a:t>
            </a:r>
          </a:p>
          <a:p>
            <a:r>
              <a:t>停顿 2 秒，再翻证据页。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194 秒（每人约 6–11 分钟版）</a:t>
            </a:r>
          </a:p>
          <a:p>
            <a:r>
              <a:t>证据页：CS2 最低配置（Windows）</a:t>
            </a:r>
          </a:p>
          <a:p>
            <a:r>
              <a:t>要点：4；8GB；1GB+</a:t>
            </a:r>
          </a:p>
          <a:p>
            <a:r>
              <a:t>注：还要 DX11 / SM5.0 与 85GB 磁盘空间 同一台机器换个分辨率或画质，瓶颈就会从 CPU 换到 GPU，反之亦然</a:t>
            </a:r>
          </a:p>
          <a:p>
            <a:r>
              <a:t>讲足 194 秒：先念要点，再补一句自己的解释。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129 秒（每人约 6–11 分钟版）</a:t>
            </a:r>
          </a:p>
          <a:p>
            <a:r>
              <a:t>结论页：没有“吃内存”这回事，只有“卡在哪”</a:t>
            </a:r>
          </a:p>
          <a:p>
            <a:r>
              <a:t>最低配置只是门槛，不是帧数保证；官方配置是下限，不是你的目标帧数</a:t>
            </a:r>
          </a:p>
          <a:p>
            <a:r>
              <a:t>停 3 秒收住，再交棒。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55 秒（每人约 6–11 分钟版）</a:t>
            </a:r>
          </a:p>
          <a:p>
            <a:r>
              <a:t>交棒页：有请莫镇豪来讲。</a:t>
            </a:r>
          </a:p>
          <a:p>
            <a:r>
              <a:t>翻页前说：有请莫镇豪来讲。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29 秒（每人约 6–11 分钟版）</a:t>
            </a:r>
          </a:p>
          <a:p>
            <a:r>
              <a:t>第 04 段 · 莫镇豪｜怎么找到真瓶颈</a:t>
            </a:r>
          </a:p>
          <a:p>
            <a:r>
              <a:t>一句话：先测，再买</a:t>
            </a:r>
          </a:p>
          <a:p>
            <a:r>
              <a:t>讲 29 秒，把人名、题目、一句话交代清楚就翻页。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117 秒（每人约 6–11 分钟版）</a:t>
            </a:r>
          </a:p>
          <a:p>
            <a:r>
              <a:t>观点页。先把这句话说清楚：把“吃 CPU 还是内存”换成“谁在限制帧生成”</a:t>
            </a:r>
          </a:p>
          <a:p>
            <a:r>
              <a:t>前者是争论，后者能测量：谁的等待时间最长，就先修谁</a:t>
            </a:r>
          </a:p>
          <a:p>
            <a:r>
              <a:t>停顿 2 秒，再翻证据页。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176 秒（每人约 6–11 分钟版）</a:t>
            </a:r>
          </a:p>
          <a:p>
            <a:r>
              <a:t>证据页：四个观察点</a:t>
            </a:r>
          </a:p>
          <a:p>
            <a:r>
              <a:t>要点：帧时间；CPU 单核；GPU 利用率；内存与磁盘</a:t>
            </a:r>
          </a:p>
          <a:p>
            <a:r>
              <a:t>注：1% 低帧比平均帧率更能说明卡顿，换页会同时拖慢 CPU 和磁盘</a:t>
            </a:r>
          </a:p>
          <a:p>
            <a:r>
              <a:t>讲足 176 秒：先念要点，再补一句自己的解释。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117 秒（每人约 6–11 分钟版）</a:t>
            </a:r>
          </a:p>
          <a:p>
            <a:r>
              <a:t>结论页：加内存解决容量，不解决帧率</a:t>
            </a:r>
          </a:p>
          <a:p>
            <a:r>
              <a:t>固定变量、一次只改一个、重复测；先记录再加钱，比先加钱再猜更省钱</a:t>
            </a:r>
          </a:p>
          <a:p>
            <a:r>
              <a:t>停 3 秒收住，再交棒。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49 秒（每人约 6–11 分钟版）</a:t>
            </a:r>
          </a:p>
          <a:p>
            <a:r>
              <a:t>交棒页：有请郭宸瑞来讲。</a:t>
            </a:r>
          </a:p>
          <a:p>
            <a:r>
              <a:t>翻页前说：有请郭宸瑞来讲。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25 秒（每人约 6–11 分钟版）</a:t>
            </a:r>
          </a:p>
          <a:p>
            <a:r>
              <a:t>第 05 段 · 郭宸瑞｜AI 如何影响我们的生活</a:t>
            </a:r>
          </a:p>
          <a:p>
            <a:r>
              <a:t>一句话：方便在前台，成本在后台</a:t>
            </a:r>
          </a:p>
          <a:p>
            <a:r>
              <a:t>讲 25 秒，把人名、题目、一句话交代清楚就翻页。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101 秒（每人约 6–11 分钟版）</a:t>
            </a:r>
          </a:p>
          <a:p>
            <a:r>
              <a:t>观点页。先把这句话说清楚：推荐、导航、修图、客服，背后都在跑模型</a:t>
            </a:r>
          </a:p>
          <a:p>
            <a:r>
              <a:t>你已经用了很久，只是没看见，从推荐到修图，一次调用背后是一整条链路</a:t>
            </a:r>
          </a:p>
          <a:p>
            <a:r>
              <a:t>停顿 2 秒，再翻证据页。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151 秒（每人约 6–11 分钟版）</a:t>
            </a:r>
          </a:p>
          <a:p>
            <a:r>
              <a:t>证据页：看不见的三件事</a:t>
            </a:r>
          </a:p>
          <a:p>
            <a:r>
              <a:t>要点：调用次数；机房；电与水</a:t>
            </a:r>
          </a:p>
          <a:p>
            <a:r>
              <a:t>注：调用次数 × 单次能耗，决定了“免费”功能背后的电费与机房开销</a:t>
            </a:r>
          </a:p>
          <a:p>
            <a:r>
              <a:t>讲足 151 秒：先念要点，再补一句自己的解释。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101 秒（每人约 6–11 分钟版）</a:t>
            </a:r>
          </a:p>
          <a:p>
            <a:r>
              <a:t>结论页：AI 不是免费的，它只是换了个地方寄账单</a:t>
            </a:r>
          </a:p>
          <a:p>
            <a:r>
              <a:t>账单最终会落到硬件、能源和价格上；看不见的部分，才是成本真正发生的地方</a:t>
            </a:r>
          </a:p>
          <a:p>
            <a:r>
              <a:t>停 3 秒收住，再交棒。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41 秒（每人约 6–11 分钟版）</a:t>
            </a:r>
          </a:p>
          <a:p>
            <a:r>
              <a:t>交棒页：有请范彦龙来讲。</a:t>
            </a:r>
          </a:p>
          <a:p>
            <a:r>
              <a:t>翻页前说：有请范彦龙来讲。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27 秒（每人约 6–11 分钟版）</a:t>
            </a:r>
          </a:p>
          <a:p>
            <a:r>
              <a:t>第 06 段 · 范彦龙｜谁在控制电子市场</a:t>
            </a:r>
          </a:p>
          <a:p>
            <a:r>
              <a:t>一句话：三家，87.6%</a:t>
            </a:r>
          </a:p>
          <a:p>
            <a:r>
              <a:t>讲 27 秒，把人名、题目、一句话交代清楚就翻页。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107 秒（每人约 6–11 分钟版）</a:t>
            </a:r>
          </a:p>
          <a:p>
            <a:r>
              <a:t>观点页。先把这句话说清楚：2026 年第二季度全球 DRAM 营收份额</a:t>
            </a:r>
          </a:p>
          <a:p>
            <a:r>
              <a:t>营收口径，不是出货量，也不是零售销量，前三家合计 87.6%，其余 12.4%</a:t>
            </a:r>
          </a:p>
          <a:p>
            <a:r>
              <a:t>停顿 2 秒，再翻证据页。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161 秒（每人约 6–11 分钟版）</a:t>
            </a:r>
          </a:p>
          <a:p>
            <a:r>
              <a:t>证据页：数据</a:t>
            </a:r>
          </a:p>
          <a:p>
            <a:r>
              <a:t>要点：三星 39.4%；SK hynix 24.9%；美光 23.3%</a:t>
            </a:r>
          </a:p>
          <a:p>
            <a:r>
              <a:t>注：集中度高，不等于合谋；但议价权是真实存在的 营收份额受高价 HBM 拉动，与出货量份额不是同一个指标</a:t>
            </a:r>
          </a:p>
          <a:p>
            <a:r>
              <a:t>讲足 161 秒：先念要点，再补一句自己的解释。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107 秒（每人约 6–11 分钟版）</a:t>
            </a:r>
          </a:p>
          <a:p>
            <a:r>
              <a:t>结论页：集中度不等于垄断，但它决定了谁先拿到货</a:t>
            </a:r>
          </a:p>
          <a:p>
            <a:r>
              <a:t>三家扩产与否，比任何一家都重要；份额高说明议价权，不直接说明有违法行为</a:t>
            </a:r>
          </a:p>
          <a:p>
            <a:r>
              <a:t>停 3 秒收住，再交棒。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44 秒（每人约 6–11 分钟版）</a:t>
            </a:r>
          </a:p>
          <a:p>
            <a:r>
              <a:t>交棒页：有请高一涵来讲。</a:t>
            </a:r>
          </a:p>
          <a:p>
            <a:r>
              <a:t>翻页前说：有请高一涵来讲。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26 秒（每人约 6–11 分钟版）</a:t>
            </a:r>
          </a:p>
          <a:p>
            <a:r>
              <a:t>第 07 段 · 高一涵｜AI 为什么让内存涨价</a:t>
            </a:r>
          </a:p>
          <a:p>
            <a:r>
              <a:t>一句话：机制成立，因果要留余地</a:t>
            </a:r>
          </a:p>
          <a:p>
            <a:r>
              <a:t>讲 26 秒，把人名、题目、一句话交代清楚就翻页。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104 秒（每人约 6–11 分钟版）</a:t>
            </a:r>
          </a:p>
          <a:p>
            <a:r>
              <a:t>观点页。先把这句话说清楚：AI 不是来买内存条的</a:t>
            </a:r>
          </a:p>
          <a:p>
            <a:r>
              <a:t>它买的是 HBM，挤的是同一条产线，它买的是 HBM，挤的是同一条产线</a:t>
            </a:r>
          </a:p>
          <a:p>
            <a:r>
              <a:t>停顿 2 秒，再翻证据页。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157 秒（每人约 6–11 分钟版）</a:t>
            </a:r>
          </a:p>
          <a:p>
            <a:r>
              <a:t>证据页：三步传导</a:t>
            </a:r>
          </a:p>
          <a:p>
            <a:r>
              <a:t>要点：AI 服务器需求 → 抢占先进制程 → 其他 DRAM 收紧</a:t>
            </a:r>
          </a:p>
          <a:p>
            <a:r>
              <a:t>注：同一时期，还有 DDR4 退市、渠道库存和备货预期 同一时期，DDR4 退市、渠道库存和备货预期也在推着价格走</a:t>
            </a:r>
          </a:p>
          <a:p>
            <a:r>
              <a:t>讲足 157 秒：先念要点，再补一句自己的解释。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104 秒（每人约 6–11 分钟版）</a:t>
            </a:r>
          </a:p>
          <a:p>
            <a:r>
              <a:t>结论页：能解释“为什么可能涨”，不能解释“涨了多少”</a:t>
            </a:r>
          </a:p>
          <a:p>
            <a:r>
              <a:t>机制是机制，因果是因果；传导成立，但幅度仍受库存与需求周期调节</a:t>
            </a:r>
          </a:p>
          <a:p>
            <a:r>
              <a:t>停 3 秒收住，再交棒。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44 秒（每人约 6–11 分钟版）</a:t>
            </a:r>
          </a:p>
          <a:p>
            <a:r>
              <a:t>交棒页：有请王皓正来讲。</a:t>
            </a:r>
          </a:p>
          <a:p>
            <a:r>
              <a:t>翻页前说：有请王皓正来讲。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22 秒（每人约 6–11 分钟版）</a:t>
            </a:r>
          </a:p>
          <a:p>
            <a:r>
              <a:t>第 08 段 · 王皓正｜如何让内存条降价</a:t>
            </a:r>
          </a:p>
          <a:p>
            <a:r>
              <a:t>一句话：没有一招见效</a:t>
            </a:r>
          </a:p>
          <a:p>
            <a:r>
              <a:t>讲 22 秒，把人名、题目、一句话交代清楚就翻页。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88 秒（每人约 6–11 分钟版）</a:t>
            </a:r>
          </a:p>
          <a:p>
            <a:r>
              <a:t>观点页。先把这句话说清楚：降价只有三条路：扩产、提良率、多一个玩家</a:t>
            </a:r>
          </a:p>
          <a:p>
            <a:r>
              <a:t>其余都是渠道和促销的短期波动：扩产、提良率、多一个玩家</a:t>
            </a:r>
          </a:p>
          <a:p>
            <a:r>
              <a:t>停顿 2 秒，再翻证据页。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132 秒（每人约 6–11 分钟版）</a:t>
            </a:r>
          </a:p>
          <a:p>
            <a:r>
              <a:t>证据页：三条路，都要时间</a:t>
            </a:r>
          </a:p>
          <a:p>
            <a:r>
              <a:t>要点：扩产；提良率；多一个玩家</a:t>
            </a:r>
          </a:p>
          <a:p>
            <a:r>
              <a:t>注：扩产按年计、良率按季度爬、新玩家要过客户验证，三件事都快不了</a:t>
            </a:r>
          </a:p>
          <a:p>
            <a:r>
              <a:t>讲足 132 秒：先念要点，再补一句自己的解释。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88 秒（每人约 6–11 分钟版）</a:t>
            </a:r>
          </a:p>
          <a:p>
            <a:r>
              <a:t>结论页：价格是结果，供给才是原因</a:t>
            </a:r>
          </a:p>
          <a:p>
            <a:r>
              <a:t>指望某一项措施立刻降价，通常要失望；其余都是渠道与促销的短期波动</a:t>
            </a:r>
          </a:p>
          <a:p>
            <a:r>
              <a:t>停 3 秒收住，再交棒。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36 秒（每人约 6–11 分钟版）</a:t>
            </a:r>
          </a:p>
          <a:p>
            <a:r>
              <a:t>交棒页：有请王劭来讲。</a:t>
            </a:r>
          </a:p>
          <a:p>
            <a:r>
              <a:t>翻页前说：有请王劭来讲。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21 秒（每人约 6–11 分钟版）</a:t>
            </a:r>
          </a:p>
          <a:p>
            <a:r>
              <a:t>第 09 段 · 王劭｜中国存储走到哪一步</a:t>
            </a:r>
          </a:p>
          <a:p>
            <a:r>
              <a:t>一句话：从能造到好用，中间隔着验证</a:t>
            </a:r>
          </a:p>
          <a:p>
            <a:r>
              <a:t>讲 21 秒，把人名、题目、一句话交代清楚就翻页。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86 秒（每人约 6–11 分钟版）</a:t>
            </a:r>
          </a:p>
          <a:p>
            <a:r>
              <a:t>观点页。先把这句话说清楚：长鑫 2025 年 11 月展示 DDR5 与 LPDDR5X</a:t>
            </a:r>
          </a:p>
          <a:p>
            <a:r>
              <a:t>面向服务器、工作站和个人电脑，覆盖服务器、工作站与个人电脑</a:t>
            </a:r>
          </a:p>
          <a:p>
            <a:r>
              <a:t>停顿 2 秒，再翻证据页。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129 秒（每人约 6–11 分钟版）</a:t>
            </a:r>
          </a:p>
          <a:p>
            <a:r>
              <a:t>证据页：三个关键词</a:t>
            </a:r>
          </a:p>
          <a:p>
            <a:r>
              <a:t>要点：2025.11；DDR5；3 类</a:t>
            </a:r>
          </a:p>
          <a:p>
            <a:r>
              <a:t>注：产品覆盖在扩，但发布不等于大规模量产 展示产品与稳定供货之间，还隔着良率、认证与客户导入</a:t>
            </a:r>
          </a:p>
          <a:p>
            <a:r>
              <a:t>讲足 129 秒：先念要点，再补一句自己的解释。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86 秒（每人约 6–11 分钟版）</a:t>
            </a:r>
          </a:p>
          <a:p>
            <a:r>
              <a:t>结论页：发布会是开始，量产才是答案</a:t>
            </a:r>
          </a:p>
          <a:p>
            <a:r>
              <a:t>能造出来，和能稳定供货，是两件事；发布是信号，量产才是能力</a:t>
            </a:r>
          </a:p>
          <a:p>
            <a:r>
              <a:t>停 3 秒收住，再交棒。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36 秒（每人约 6–11 分钟版）</a:t>
            </a:r>
          </a:p>
          <a:p>
            <a:r>
              <a:t>交棒页：有请王珂鸣来讲。</a:t>
            </a:r>
          </a:p>
          <a:p>
            <a:r>
              <a:t>翻页前说：有请王珂鸣来讲。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20 秒（每人约 6–11 分钟版）</a:t>
            </a:r>
          </a:p>
          <a:p>
            <a:r>
              <a:t>第 10 段 · 王珂鸣｜差距到底在哪</a:t>
            </a:r>
          </a:p>
          <a:p>
            <a:r>
              <a:t>一句话：三个硬指标</a:t>
            </a:r>
          </a:p>
          <a:p>
            <a:r>
              <a:t>讲 20 秒，把人名、题目、一句话交代清楚就翻页。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79 秒（每人约 6–11 分钟版）</a:t>
            </a:r>
          </a:p>
          <a:p>
            <a:r>
              <a:t>观点页。先把这句话说清楚：差距不在发布会上，在产线上</a:t>
            </a:r>
          </a:p>
          <a:p>
            <a:r>
              <a:t>PPT 上的参数，和客户手里的良率不是一回事，在产线上：良率、设备与材料、客户验证</a:t>
            </a:r>
          </a:p>
          <a:p>
            <a:r>
              <a:t>停顿 2 秒，再翻证据页。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119 秒（每人约 6–11 分钟版）</a:t>
            </a:r>
          </a:p>
          <a:p>
            <a:r>
              <a:t>证据页：绕不开的三关</a:t>
            </a:r>
          </a:p>
          <a:p>
            <a:r>
              <a:t>要点：良率；设备与材料；客户验证</a:t>
            </a:r>
          </a:p>
          <a:p>
            <a:r>
              <a:t>注：能替代多少，最终由客户的下单和退货率决定</a:t>
            </a:r>
          </a:p>
          <a:p>
            <a:r>
              <a:t>讲足 119 秒：先念要点，再补一句自己的解释。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79 秒（每人约 6–11 分钟版）</a:t>
            </a:r>
          </a:p>
          <a:p>
            <a:r>
              <a:t>结论页：量产和良率，才是真正的答案</a:t>
            </a:r>
          </a:p>
          <a:p>
            <a:r>
              <a:t>能替代多少，由客户的下单决定；发布会讲性能，产线讲成本与交付</a:t>
            </a:r>
          </a:p>
          <a:p>
            <a:r>
              <a:t>停 3 秒收住，再交棒。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34 秒（每人约 6–11 分钟版）</a:t>
            </a:r>
          </a:p>
          <a:p>
            <a:r>
              <a:t>交棒页：有请岳梓航来讲。</a:t>
            </a:r>
          </a:p>
          <a:p>
            <a:r>
              <a:t>翻页前说：有请岳梓航来讲。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23 秒（每人约 6–11 分钟版）</a:t>
            </a:r>
          </a:p>
          <a:p>
            <a:r>
              <a:t>第 11 段 · 岳梓航｜如何摆脱外部控制</a:t>
            </a:r>
          </a:p>
          <a:p>
            <a:r>
              <a:t>一句话：一条管制，管到哪一步</a:t>
            </a:r>
          </a:p>
          <a:p>
            <a:r>
              <a:t>讲 23 秒，把人名、题目、一句话交代清楚就翻页。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90 秒（每人约 6–11 分钟版）</a:t>
            </a:r>
          </a:p>
          <a:p>
            <a:r>
              <a:t>观点页。先把这句话说清楚：2024 年 12 月 2 日美国 BIS 出口管制</a:t>
            </a:r>
          </a:p>
          <a:p>
            <a:r>
              <a:t>24 类设备、3 类软件、以及 HBM：24 类设备、3 类软件与 HBM</a:t>
            </a:r>
          </a:p>
          <a:p>
            <a:r>
              <a:t>停顿 2 秒，再翻证据页。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135 秒（每人约 6–11 分钟版）</a:t>
            </a:r>
          </a:p>
          <a:p>
            <a:r>
              <a:t>证据页：三种常见误解</a:t>
            </a:r>
          </a:p>
          <a:p>
            <a:r>
              <a:t>要点：控制全世界内存；普通内存条被禁售；一条公告=全部法规</a:t>
            </a:r>
          </a:p>
          <a:p>
            <a:r>
              <a:t>注：判断政策要看范围、生效日期与豁免条款，标题往往比原文激烈</a:t>
            </a:r>
          </a:p>
          <a:p>
            <a:r>
              <a:t>讲足 135 秒：先念要点，再补一句自己的解释。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90 秒（每人约 6–11 分钟版）</a:t>
            </a:r>
          </a:p>
          <a:p>
            <a:r>
              <a:t>结论页：影响先进环节，不等于全面禁售</a:t>
            </a:r>
          </a:p>
          <a:p>
            <a:r>
              <a:t>应对方式是多元供应 + 自主验证，不是口号；它影响先进环节，不等于普通内存条被禁售</a:t>
            </a:r>
          </a:p>
          <a:p>
            <a:r>
              <a:t>停 3 秒收住，再交棒。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38 秒（每人约 6–11 分钟版）</a:t>
            </a:r>
          </a:p>
          <a:p>
            <a:r>
              <a:t>交棒页：有请张舒予来讲。</a:t>
            </a:r>
          </a:p>
          <a:p>
            <a:r>
              <a:t>翻页前说：有请张舒予来讲。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45 秒（每人约 6–11 分钟版）</a:t>
            </a:r>
          </a:p>
          <a:p>
            <a:r>
              <a:t>第 12 段 · 张舒予｜十二个人，一个结论</a:t>
            </a:r>
          </a:p>
          <a:p>
            <a:r>
              <a:t>一句话：技术、市场、政策，三条线</a:t>
            </a:r>
          </a:p>
          <a:p>
            <a:r>
              <a:t>讲 45 秒，把人名、题目、一句话交代清楚就翻页。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180 秒（每人约 6–11 分钟版）</a:t>
            </a:r>
          </a:p>
          <a:p>
            <a:r>
              <a:t>观点页。先把这句话说清楚：性能看瓶颈，不看参数表</a:t>
            </a:r>
          </a:p>
          <a:p>
            <a:r>
              <a:t>先测再买，是这一条最实用的版本：瓶颈、供给、口径</a:t>
            </a:r>
          </a:p>
          <a:p>
            <a:r>
              <a:t>停顿 2 秒，再翻证据页。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300 秒（每人约 6–11 分钟版）</a:t>
            </a:r>
          </a:p>
          <a:p>
            <a:r>
              <a:t>证据页：数据</a:t>
            </a:r>
          </a:p>
          <a:p>
            <a:r>
              <a:t>要点：AI 影响供给，但不是唯一原因</a:t>
            </a:r>
          </a:p>
          <a:p>
            <a:r>
              <a:t>注：十二个人讲的是同一件事：先把话说清楚，再谈价格</a:t>
            </a:r>
          </a:p>
          <a:p>
            <a:r>
              <a:t>讲足 300 秒：先念要点，再补一句自己的解释。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316 秒（每人约 6–11 分钟版）</a:t>
            </a:r>
          </a:p>
          <a:p>
            <a:r>
              <a:t>结论页：价格必须带上对象、时间和口径</a:t>
            </a:r>
          </a:p>
          <a:p>
            <a:r>
              <a:t>合约价不是零售价，预测不是结果；把这三句话记住，比记住任何一个数字都有用</a:t>
            </a:r>
          </a:p>
          <a:p>
            <a:r>
              <a:t>停 3 秒收住，再交棒。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约 130 秒（每人约 6–11 分钟版）</a:t>
            </a:r>
          </a:p>
          <a:p>
            <a:r>
              <a:t>视频案例。先点画面播放（1 分 51 秒），看完说一句：</a:t>
            </a:r>
          </a:p>
          <a:p>
            <a:r>
              <a:t>“这就是公众对 AI 变化的直观感受——快，但感受不等于数据；我们回答的是背后的机制。”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 9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约 20 秒（每人约 6–11 分钟版）</a:t>
            </a:r>
          </a:p>
          <a:p>
            <a:r>
              <a:t>本页不讲解：先让观众看视频（第 61 页），再翻到这页，停 5 秒，然后翻到最后一页揭晓。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 9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约 20 秒（每人约 6–11 分钟版）</a:t>
            </a:r>
          </a:p>
          <a:p>
            <a:r>
              <a:t>本页不讲解，是最后的反转：两家模型，DeepSeek-V4.1-Flash 1017 max 与 ChatGPT6 Astra ultra 共同制作。被问到就照实说：选题、研究、幻灯片、论文、讲稿、动画与配乐都由 AI 生成。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 9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约 30 秒（每人约 6–11 分钟版）</a:t>
            </a:r>
          </a:p>
          <a:p>
            <a:r>
              <a:t>本页不讲解。数据是 10/20 时点的控制台截图：1,629 次调用、620,070,647 tokens，平均每次约 38 万 token。若之后继续使用，实时数字会更大——被问到时说明是截图时点即可。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 9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约 60 秒（每人约 6–11 分钟版）</a:t>
            </a:r>
          </a:p>
          <a:p>
            <a:r>
              <a:t>致谢 + Q&amp;A + AI 生成声明。照着念：「本次研究 100% 由 AI 生成，人工只做方向确认。」留 1 分钟给提问。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microsoft.com/office/2007/relationships/media" Target="../media/media1.mp3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Relationship Id="rId6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1.xml"/><Relationship Id="rId5" Type="http://schemas.openxmlformats.org/officeDocument/2006/relationships/image" Target="../media/image1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64.xml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MEMORY /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795527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人工智能发展背景下</a:t>
            </a:r>
          </a:p>
          <a:p>
            <a:pPr algn="l">
              <a:lnSpc>
                <a:spcPct val="120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的内存需求与市场变化研究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5074920"/>
            <a:ext cx="822960" cy="18288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齐景睿　宋明喆　万丰睿　莫镇豪　郭宸瑞　范彦龙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高一涵　王皓正　王劭　王珂鸣　岳梓航　张舒予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852160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信息科技综合研究　2026.10.19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51206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0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MEMORY DEMAND &amp; MARKET CHANGE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1783080"/>
            <a:ext cx="219456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0" y="1892807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SPEAKERS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16712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ECEBE6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898648"/>
            <a:ext cx="219456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0" y="300837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SLIDES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282696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ECEBE6"/>
                </a:solidFill>
                <a:latin typeface="Consolas"/>
                <a:ea typeface="Consolas"/>
                <a:cs typeface="Consolas"/>
              </a:rPr>
              <a:t>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4014215"/>
            <a:ext cx="219456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4123944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39826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ECEBE6"/>
                </a:solidFill>
                <a:latin typeface="Consolas"/>
                <a:ea typeface="Consolas"/>
                <a:cs typeface="Consolas"/>
              </a:rPr>
              <a:t>45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5129783"/>
            <a:ext cx="219456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01/65</a:t>
            </a:r>
          </a:p>
        </p:txBody>
      </p:sp>
      <p:pic>
        <p:nvPicPr>
          <p:cNvPr id="20" name="BGM_playlist">
            <a:hlinkClick r:id="" action="ppaction://media"/>
            <a:extLst>
              <a:ext uri="{FF2B5EF4-FFF2-40B4-BE49-F238E27FC236}">
                <a16:creationId xmlns:a16="http://schemas.microsoft.com/office/drawing/2014/main" id="{421F2DB1-F7AF-459E-E17A-B1FA4400C4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 r:link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28600" y="228600"/>
            <a:ext cx="406400" cy="406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05840" y="610819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8C8A82"/>
                </a:solidFill>
                <a:latin typeface="Consolas"/>
              </a:rPr>
              <a:t>主持人　万丰睿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9000" numSld="65" showWhenStopped="0">
                <p:cTn id="4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  <p:bldLst>
      <p:bldP spid="2" grpId="0" autoUpdateAnimBg="0"/>
      <p:bldP spid="3" grpId="0" autoUpdateAnimBg="0"/>
      <p:bldP spid="5" grpId="0" autoUpdateAnimBg="0"/>
      <p:bldP spid="6" grpId="0" autoUpdateAnimBg="0"/>
      <p:bldP spid="7" grpId="0" autoUpdateAnimBg="0"/>
      <p:bldP spid="9" grpId="0" autoUpdateAnimBg="0"/>
      <p:bldP spid="10" grpId="0" autoUpdateAnimBg="0"/>
      <p:bldP spid="12" grpId="0" autoUpdateAnimBg="0"/>
      <p:bldP spid="13" grpId="0" autoUpdateAnimBg="0"/>
      <p:bldP spid="15" grpId="0" autoUpdateAnimBg="0"/>
      <p:bldP spid="16" grpId="0" autoUpdateAnimBg="0"/>
      <p:bldP spid="18" grpId="0" autoUpdateAnimBg="0"/>
      <p:bldP spid="19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868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14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PART 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内存条是什么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A6A49C"/>
                </a:solidFill>
                <a:latin typeface="Microsoft YaHei"/>
                <a:ea typeface="Microsoft YaHei"/>
                <a:cs typeface="Microsoft YaHei"/>
              </a:rPr>
              <a:t>它是 CPU 的工作台，不是仓库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06440"/>
            <a:ext cx="1280160" cy="109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齐景睿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本段关键词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132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DRAM 颗粒　·　金手指　·　尺寸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57400"/>
            <a:ext cx="7315" cy="37490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02/65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内存条是什么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7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断电就清空，</a:t>
            </a:r>
          </a:p>
          <a:p>
            <a:pPr algn="l">
              <a:lnSpc>
                <a:spcPct val="120000"/>
              </a:lnSpc>
            </a:pPr>
            <a:r>
              <a:rPr sz="37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所以它只放“正在用”的东西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长期保存，是硬盘的事，而硬盘决定“还能不能找回来”</a:t>
            </a:r>
          </a:p>
        </p:txBody>
      </p:sp>
      <p:pic>
        <p:nvPicPr>
          <p:cNvPr id="5" name="Picture 4" descr="图　DDR5 模组结构 · 本文绘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19"/>
            <a:ext cx="3977639" cy="2486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4470273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4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图　DDR5 模组结构 · 本文绘制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4781169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八颗 DRAM 颗粒焊在 PCB 上，底部金手指和插槽交换数据；中间的缺口决定它插得进哪种主板。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03/65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内存条是什么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spc="-2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一根内存条里有什么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658368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45973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DRAM 颗粒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5146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真正存数据的地方，一颗一颗焊在 PCB 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355848"/>
            <a:ext cx="658368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538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8386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金手指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5387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和主板交换数据的触点，代际不同插不进去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379976"/>
            <a:ext cx="658368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5628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507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尺寸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56285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长 133 mm，立起来 31 mm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5404104"/>
            <a:ext cx="658368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图　内存条 31 mm vs 硬币 25 mm · 本文绘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965960"/>
            <a:ext cx="3291840" cy="258644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4625557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4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图　内存条 31 mm vs 硬币 25 mm · 本文绘制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92531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把内存条立起来，比一枚一元硬币（直径 25 mm）还高 6 毫米——参照物选对了，尺寸才有体感。 SPD 芯片记录时序与容量，主板开机时先读它，再决定以什么速度跑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04/65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7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7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72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72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结论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9052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7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买内存 = 容量 + 速度 + 兼容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只看容量，是最常见的一次踩坑；内存是工作台，硬盘是仓库，混用这两个词就会买错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760720"/>
            <a:ext cx="1280160" cy="10972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05/65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920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→ 下一位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AI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宋明喆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它在做一件事：预测下一个词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第 07 页起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806440"/>
            <a:ext cx="1014984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06/65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868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14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PART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AI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A6A49C"/>
                </a:solidFill>
                <a:latin typeface="Microsoft YaHei"/>
                <a:ea typeface="Microsoft YaHei"/>
                <a:cs typeface="Microsoft YaHei"/>
              </a:rPr>
              <a:t>它在做一件事：预测下一个词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06440"/>
            <a:ext cx="1280160" cy="109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宋明喆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本段关键词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132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7B　·　2 字节　·　1 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57400"/>
            <a:ext cx="7315" cy="37490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07/65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AI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7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每一次回答，</a:t>
            </a:r>
          </a:p>
          <a:p>
            <a:pPr algn="l">
              <a:lnSpc>
                <a:spcPct val="120000"/>
              </a:lnSpc>
            </a:pPr>
            <a:r>
              <a:rPr sz="37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都是一次超大规模的矩阵乘法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看起来像聊天，算起来是算术，不是“懂语言”，而是“会算概率”</a:t>
            </a:r>
          </a:p>
        </p:txBody>
      </p:sp>
      <p:pic>
        <p:nvPicPr>
          <p:cNvPr id="5" name="Picture 4" descr="图　参数矩阵 · 本文绘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19"/>
            <a:ext cx="3977639" cy="2486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4470273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4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图　参数矩阵 · 本文绘制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4781169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每个方格是一组参数。模型越大，一次推理要搬运的权重就越多，瓶颈从算力转向带宽。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08/65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AI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spc="-2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AI 的三个数字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6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起步的参数量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0" spc="-6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7B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074920"/>
            <a:ext cx="448056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75120" y="2331720"/>
            <a:ext cx="448056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49631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6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FP16 下一个参数的大小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39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spc="-3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2 字节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3749039"/>
            <a:ext cx="448056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3913631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6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每次只生成一个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251959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spc="-3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1 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5166359"/>
            <a:ext cx="448056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559552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70 亿参数 × 2 字节 ≈ 14 GB（13.0 GiB）；上下文 4096→8192→16384 时，KV 缓存约 2 GiB→4 GiB→8 GiB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09/65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结论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9052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AI 的能力来自参数，</a:t>
            </a:r>
          </a:p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AI 的成本也来自参数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这就是它和内存扯上关系的地方；算得快不快，取决于数据搬得快不快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760720"/>
            <a:ext cx="1280160" cy="10972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10/65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920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→ 下一位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CS 吃 CPU 还是内存条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万丰睿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官方最低配置写的是「三件套」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第 12 页起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806440"/>
            <a:ext cx="1014984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11/65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868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为什么 · 游戏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14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PART 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0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CS 吃 CPU 还是内存条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A6A49C"/>
                </a:solidFill>
                <a:latin typeface="Microsoft YaHei"/>
                <a:ea typeface="Microsoft YaHei"/>
                <a:cs typeface="Microsoft YaHei"/>
              </a:rPr>
              <a:t>官方最低配置写的是「三件套」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06440"/>
            <a:ext cx="1280160" cy="109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万丰睿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本段关键词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132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4　·　8 GB　·　1 GB+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57400"/>
            <a:ext cx="7315" cy="37490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12/65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CS 吃 CPU 还是内存条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官方最低配置，</a:t>
            </a:r>
          </a:p>
          <a:p>
            <a:pPr algn="l">
              <a:lnSpc>
                <a:spcPct val="120000"/>
              </a:lnSpc>
            </a:pPr>
            <a:r>
              <a:rPr sz="54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写的是“三件套”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不是只写内存，也不是只写 CPU，而是三件套：线程、内存、显存</a:t>
            </a:r>
          </a:p>
        </p:txBody>
      </p:sp>
      <p:pic>
        <p:nvPicPr>
          <p:cNvPr id="5" name="Picture 4" descr="图　存储层级 · 本文绘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19"/>
            <a:ext cx="3977639" cy="2486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4470273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4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图　存储层级 · 本文绘制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4781169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CPU 拿 DRAM 当工作区，SSD 负责断电后保存。容量、带宽、时延是三个不同指标。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13/65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CS 吃 CPU 还是内存条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spc="-2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CS2 最低配置（Windows）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6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个硬件 CPU 线程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0" spc="-6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074920"/>
            <a:ext cx="448056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75120" y="2331720"/>
            <a:ext cx="448056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49631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6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系统内存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39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spc="-3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8 GB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3749039"/>
            <a:ext cx="448056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3913631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6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显卡显存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251959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spc="-3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1 GB+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5166359"/>
            <a:ext cx="448056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559552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还要 DX11 / SM 5.0 与 85 GB 磁盘空间；这是运行门槛，不是帧数保证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14/65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结论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9052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没有“吃内存”这回事，</a:t>
            </a:r>
          </a:p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只有“卡在哪”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最低配置只是门槛，不是帧数保证；官方配置是下限，不是你的目标帧数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760720"/>
            <a:ext cx="1280160" cy="10972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15/65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920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→ 下一位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怎么找到真瓶颈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莫镇豪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先测，再买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第 17 页起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806440"/>
            <a:ext cx="1014984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16/65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868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为什么 · 游戏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14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PART 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怎么找到真瓶颈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A6A49C"/>
                </a:solidFill>
                <a:latin typeface="Microsoft YaHei"/>
                <a:ea typeface="Microsoft YaHei"/>
                <a:cs typeface="Microsoft YaHei"/>
              </a:rPr>
              <a:t>先测，再买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06440"/>
            <a:ext cx="1280160" cy="109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莫镇豪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本段关键词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132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帧时间　·　CPU 单核　·　GPU 利用率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57400"/>
            <a:ext cx="7315" cy="37490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17/65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怎么找到真瓶颈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7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把“吃 CPU 还是内存”</a:t>
            </a:r>
          </a:p>
          <a:p>
            <a:pPr algn="l">
              <a:lnSpc>
                <a:spcPct val="120000"/>
              </a:lnSpc>
            </a:pPr>
            <a:r>
              <a:rPr sz="37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换成“谁在限制帧生成”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前者是争论，后者能测量：谁的等待时间最长，就先修谁</a:t>
            </a:r>
          </a:p>
        </p:txBody>
      </p:sp>
      <p:pic>
        <p:nvPicPr>
          <p:cNvPr id="5" name="Picture 4" descr="图　帧生成时间 · 本文绘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19"/>
            <a:ext cx="3977639" cy="2486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4470273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4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图　帧生成时间 · 本文绘制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4781169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帧时间的波动比平均帧率更能说明卡顿：平均 60 帧也可能每两秒卡一次。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18/65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怎么找到真瓶颈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spc="-2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四个观察点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95728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59689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4203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帧时间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59689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比平均帧率更诚实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310128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51129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45643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CPU 单核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51129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总占用率会骗人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224528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42569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37083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GPU 利用率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42569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是不是已经打满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5138928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34009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28523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内存与磁盘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34009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换页就是信号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6053328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92531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四个数要同时看：只看 CPU 总占用，会漏掉单核瓶颈。 1% 低帧比平均帧率更能说明卡顿，换页会同时拖慢 CPU 和磁盘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19/65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7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7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72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72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结论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9052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加内存解决容量，</a:t>
            </a:r>
          </a:p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不解决帧率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固定变量、一次只改一个、重复测；先记录再加钱，比先加钱再猜更省钱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760720"/>
            <a:ext cx="1280160" cy="10972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20/65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920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→ 下一位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AI 如何影响我们的生活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郭宸瑞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方便在前台，成本在后台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第 22 页起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806440"/>
            <a:ext cx="1014984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21/65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868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为什么 · 生活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14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PART 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AI 如何影响我们的生活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A6A49C"/>
                </a:solidFill>
                <a:latin typeface="Microsoft YaHei"/>
                <a:ea typeface="Microsoft YaHei"/>
                <a:cs typeface="Microsoft YaHei"/>
              </a:rPr>
              <a:t>方便在前台，成本在后台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06440"/>
            <a:ext cx="1280160" cy="109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郭宸瑞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本段关键词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132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调用次数　·　机房　·　电与水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57400"/>
            <a:ext cx="7315" cy="37490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22/65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AI 如何影响我们的生活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推荐、导航、修图、客服，</a:t>
            </a:r>
          </a:p>
          <a:p>
            <a:pPr algn="l">
              <a:lnSpc>
                <a:spcPct val="120000"/>
              </a:lnSpc>
            </a:pPr>
            <a:r>
              <a:rPr sz="40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背后都在跑模型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你已经用了很久，只是没看见，从推荐到修图，一次调用背后是一整条链路</a:t>
            </a:r>
          </a:p>
        </p:txBody>
      </p:sp>
      <p:pic>
        <p:nvPicPr>
          <p:cNvPr id="5" name="Picture 4" descr="图　AI 服务调用路径 · 本文绘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19"/>
            <a:ext cx="3977639" cy="2486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4470273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4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图　AI 服务调用路径 · 本文绘制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4781169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推荐、导航、修图、客服，每个功能都要把数据送到机房里的模型上，再传回手机。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23/65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AI 如何影响我们的生活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spc="-2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看不见的三件事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95728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59689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4203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调用次数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59689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一天里，模型被问了多少次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474720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675887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2102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机房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675887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每一条回答都发生在某台服务器上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553712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79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00016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电与水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754879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算力有价格，也有环境成本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5632703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92531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一次调用 = 网络 + 调度 + 算力 + 散热，成本藏在机房里。 调用次数 × 单次能耗，决定了“免费”功能背后的电费与机房开销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24/65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7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7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结论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9052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AI 不是免费的，</a:t>
            </a:r>
          </a:p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它只是换了个地方寄账单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账单最终会落到硬件、能源和价格上；看不见的部分，才是成本真正发生的地方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760720"/>
            <a:ext cx="1280160" cy="10972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25/65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920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→ 下一位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谁在控制电子市场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范彦龙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三家，87.6%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第 27 页起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806440"/>
            <a:ext cx="1014984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26/65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868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为什么 · 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14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PART 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谁在控制电子市场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A6A49C"/>
                </a:solidFill>
                <a:latin typeface="Microsoft YaHei"/>
                <a:ea typeface="Microsoft YaHei"/>
                <a:cs typeface="Microsoft YaHei"/>
              </a:rPr>
              <a:t>三家，87.6%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06440"/>
            <a:ext cx="1280160" cy="109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范彦龙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本段关键词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132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三星　·　SK hynix　·　美光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57400"/>
            <a:ext cx="7315" cy="37490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27/65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谁在控制电子市场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2026 年第二季度</a:t>
            </a:r>
          </a:p>
          <a:p>
            <a:pPr algn="l">
              <a:lnSpc>
                <a:spcPct val="120000"/>
              </a:lnSpc>
            </a:pPr>
            <a:r>
              <a:rPr sz="40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全球 DRAM 营收份额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营收口径，不是出货量，也不是零售销量，前三家合计 87.6%，其余 12.4%</a:t>
            </a:r>
          </a:p>
        </p:txBody>
      </p:sp>
      <p:pic>
        <p:nvPicPr>
          <p:cNvPr id="5" name="Picture 4" descr="图　头部厂商份额 · TrendForce 2026-09-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19"/>
            <a:ext cx="3977639" cy="2486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4470273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4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图　头部厂商份额 · TrendForce 2026-09-07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4781169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弧长按 2026 年第二季度营收份额绘制；其余 12.4% 由其他厂商分走，口径不是出货量。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28/65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谁在控制电子市场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0" b="0" spc="-8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87.6%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6324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前三家营收份额合计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其余 12.4% 由其他厂商分走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3317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三星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368296"/>
            <a:ext cx="2593969" cy="100584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0" y="227685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39.4%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2004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SK hynix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236976"/>
            <a:ext cx="1639336" cy="100584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95560" y="314553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24.9%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0690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美光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105656"/>
            <a:ext cx="1533997" cy="100584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95560" y="401421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23.3%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5669280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806440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集中度高，不等于合谋；但议价权是真实存在的 营收份额受高价 HBM 拉动，与出货量份额不是同一个指标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29/65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7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7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72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结论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9052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集中度不等于垄断，</a:t>
            </a:r>
          </a:p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但它决定了谁先拿到货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三家扩产与否，比任何一家都重要；份额高说明议价权，不直接说明有违法行为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760720"/>
            <a:ext cx="1280160" cy="10972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30/65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920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→ 下一位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AI 为什么让内存涨价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高一涵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机制成立，因果要留余地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第 32 页起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806440"/>
            <a:ext cx="1014984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31/65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868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为什么 · 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14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PART 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AI 为什么让内存涨价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A6A49C"/>
                </a:solidFill>
                <a:latin typeface="Microsoft YaHei"/>
                <a:ea typeface="Microsoft YaHei"/>
                <a:cs typeface="Microsoft YaHei"/>
              </a:rPr>
              <a:t>机制成立，因果要留余地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06440"/>
            <a:ext cx="1280160" cy="109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高一涵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本段关键词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132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AI 服务器需求　·　抢占先进制程　·　其他 DRAM 收紧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57400"/>
            <a:ext cx="7315" cy="37490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32/65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AI 为什么让内存涨价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AI 不是来买内存条的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它买的是 HBM，挤的是同一条产线，它买的是 HBM，挤的是同一条产线</a:t>
            </a:r>
          </a:p>
        </p:txBody>
      </p:sp>
      <p:pic>
        <p:nvPicPr>
          <p:cNvPr id="5" name="Picture 4" descr="图　产能传导路径 · 本文绘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19"/>
            <a:ext cx="3977639" cy="2486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4470273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4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图　产能传导路径 · 本文绘制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4781169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AI 需求先推高 HBM，再沿着同一批晶圆产能传导到其他 DRAM，中间隔着扩产和验证的时间。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33/65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AI 为什么让内存涨价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spc="-2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三步传导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459736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AI 服务器需求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5146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HBM 与高容量服务器内存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081528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31181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93591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538727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抢占先进制程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93591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晶圆和产能是同一批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160520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19709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72583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6177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其他 DRAM 收紧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72583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消费级产品被挤到后面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5239512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8064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2026-09 机构预测 4Q26 一般 DRAM 合约价环比 +10–15%；同期还有 DDR4 退市与渠道库存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34/65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7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7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72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72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结论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9052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能解释“为什么可能涨”，</a:t>
            </a:r>
          </a:p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不能解释“涨了多少”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机制是机制，因果是因果；传导成立，但幅度仍受库存与需求周期调节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760720"/>
            <a:ext cx="1280160" cy="10972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35/65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920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→ 下一位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如何让内存条降价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王皓正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没有一招见效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第 37 页起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806440"/>
            <a:ext cx="1014984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36/65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868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怎么办 · 降价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14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PART 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如何让内存条降价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A6A49C"/>
                </a:solidFill>
                <a:latin typeface="Microsoft YaHei"/>
                <a:ea typeface="Microsoft YaHei"/>
                <a:cs typeface="Microsoft YaHei"/>
              </a:rPr>
              <a:t>没有一招见效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06440"/>
            <a:ext cx="1280160" cy="109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王皓正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本段关键词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132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扩产　·　提良率　·　多一个玩家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57400"/>
            <a:ext cx="7315" cy="37490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37/65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如何让内存条降价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降价只有三条路：</a:t>
            </a:r>
          </a:p>
          <a:p>
            <a:pPr algn="l">
              <a:lnSpc>
                <a:spcPct val="120000"/>
              </a:lnSpc>
            </a:pPr>
            <a:r>
              <a:rPr sz="40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扩产、提良率、多一个玩家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其余都是渠道和促销的短期波动：扩产、提良率、多一个玩家</a:t>
            </a:r>
          </a:p>
        </p:txBody>
      </p:sp>
      <p:pic>
        <p:nvPicPr>
          <p:cNvPr id="5" name="Picture 4" descr="图　供需与价格 · 本文绘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19"/>
            <a:ext cx="3977639" cy="2486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4470273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4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图　供需与价格 · 本文绘制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4781169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扩产把供给曲线往右推，价格才下得来；促销只是在同一条曲线上移动。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38/65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如何让内存条降价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spc="-2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三条路，都要时间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95728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59689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4203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扩产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59689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建厂、装机、爬坡，以年计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474720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675887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2102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提良率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675887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同样的晶圆，产出更多好片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553712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79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00016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多一个玩家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754879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有竞争，价格才有下行压力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5632703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92531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三条路都需要时间：扩产以年计，良率以季度计，玩家以验证计。 扩产按年计、良率按季度爬、新玩家要过客户验证，三件事都快不了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39/65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7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7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结论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9052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价格是结果，</a:t>
            </a:r>
          </a:p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供给才是原因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指望某一项措施立刻降价，通常要失望；其余都是渠道与促销的短期波动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760720"/>
            <a:ext cx="1280160" cy="10972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40/65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920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→ 下一位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中国存储走到哪一步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王劭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从能造到好用，中间隔着验证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第 42 页起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806440"/>
            <a:ext cx="1014984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41/65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868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怎么办 · 中国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14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PART 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中国存储走到哪一步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A6A49C"/>
                </a:solidFill>
                <a:latin typeface="Microsoft YaHei"/>
                <a:ea typeface="Microsoft YaHei"/>
                <a:cs typeface="Microsoft YaHei"/>
              </a:rPr>
              <a:t>从能造到好用，中间隔着验证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06440"/>
            <a:ext cx="1280160" cy="109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王劭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本段关键词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132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2025.11　·　DDR5　·　3 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57400"/>
            <a:ext cx="7315" cy="37490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42/65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中国存储走到哪一步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长鑫 2025 年 11 月</a:t>
            </a:r>
          </a:p>
          <a:p>
            <a:pPr algn="l">
              <a:lnSpc>
                <a:spcPct val="120000"/>
              </a:lnSpc>
            </a:pPr>
            <a:r>
              <a:rPr sz="28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展示 DDR5 与 LPDDR5X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面向服务器、工作站和个人电脑，覆盖服务器、工作站与个人电脑</a:t>
            </a:r>
          </a:p>
        </p:txBody>
      </p:sp>
      <p:pic>
        <p:nvPicPr>
          <p:cNvPr id="5" name="Picture 4" descr="图　颗粒与封装 · 本文绘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19"/>
            <a:ext cx="3977639" cy="2486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4470273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4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图　颗粒与封装 · 本文绘制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4781169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一片晶圆切出很多颗 die，封装成颗粒再焊到模组上——每一层都有损耗，也都有成本。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43/65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中国存储走到哪一步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spc="-2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三个关键词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6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公开亮相的时间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0" spc="-6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2025.11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074920"/>
            <a:ext cx="448056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75120" y="2331720"/>
            <a:ext cx="448056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49631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6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主流代际，不是落后产品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39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spc="-3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DDR5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3749039"/>
            <a:ext cx="448056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3913631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6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服务器 / 工作站 /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251959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spc="-30">
                <a:solidFill>
                  <a:srgbClr val="161615"/>
                </a:solidFill>
                <a:latin typeface="Consolas"/>
                <a:ea typeface="Consolas"/>
                <a:cs typeface="Consolas"/>
              </a:rPr>
              <a:t>3 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5166359"/>
            <a:ext cx="448056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559552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产品覆盖在扩，但发布不等于大规模量产 展示产品与稳定供货之间，还隔着良率、认证与客户导入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44/65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结论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9052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发布会是开始，</a:t>
            </a:r>
          </a:p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量产才是答案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能造出来，和能稳定供货，是两件事；发布是信号，量产才是能力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760720"/>
            <a:ext cx="1280160" cy="10972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45/65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920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→ 下一位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差距到底在哪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王珂鸣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三个硬指标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第 47 页起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806440"/>
            <a:ext cx="1014984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46/65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868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怎么办 · 中国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14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PART 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差距到底在哪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A6A49C"/>
                </a:solidFill>
                <a:latin typeface="Microsoft YaHei"/>
                <a:ea typeface="Microsoft YaHei"/>
                <a:cs typeface="Microsoft YaHei"/>
              </a:rPr>
              <a:t>三个硬指标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06440"/>
            <a:ext cx="1280160" cy="109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王珂鸣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本段关键词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132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良率　·　设备与材料　·　客户验证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57400"/>
            <a:ext cx="7315" cy="37490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47/65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差距到底在哪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差距不在发布会上，</a:t>
            </a:r>
          </a:p>
          <a:p>
            <a:pPr algn="l">
              <a:lnSpc>
                <a:spcPct val="120000"/>
              </a:lnSpc>
            </a:pPr>
            <a:r>
              <a:rPr sz="54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在产线上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PPT 上的参数，和客户手里的良率不是一回事，在产线上：良率、设备与材料、客户验证</a:t>
            </a:r>
          </a:p>
        </p:txBody>
      </p:sp>
      <p:pic>
        <p:nvPicPr>
          <p:cNvPr id="5" name="Picture 4" descr="图　晶圆良率 · 本文绘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19"/>
            <a:ext cx="3977639" cy="2486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4470273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4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图　晶圆良率 · 本文绘制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4781169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金色是合格 die，灰色是报废的；良率每差一个百分点，单位成本就上一个台阶。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48/65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差距到底在哪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spc="-2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绕不开的三关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95728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59689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4203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良率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59689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同样的投入，能产出多少合格品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474720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675887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2102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设备与材料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675887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先进制程、高带宽封装，处处是门槛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553712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79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00016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客户验证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754879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兼容性、可靠性、成本、交付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5632703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92531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三关是串联的：良率决定成本，设备决定扩产，验证决定能不能进供应链。 能替代多少，最终由客户的下单和退货率决定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49/65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7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7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结论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9052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量产和良率，</a:t>
            </a:r>
          </a:p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才是真正的答案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能替代多少，由客户的下单决定；发布会讲性能，产线讲成本与交付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760720"/>
            <a:ext cx="1280160" cy="10972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50/65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920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→ 下一位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如何摆脱外部控制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岳梓航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一条管制，管到哪一步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第 52 页起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806440"/>
            <a:ext cx="1014984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51/65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868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怎么办 · 外部约束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14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PART 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如何摆脱外部控制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A6A49C"/>
                </a:solidFill>
                <a:latin typeface="Microsoft YaHei"/>
                <a:ea typeface="Microsoft YaHei"/>
                <a:cs typeface="Microsoft YaHei"/>
              </a:rPr>
              <a:t>一条管制，管到哪一步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06440"/>
            <a:ext cx="1280160" cy="109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岳梓航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本段关键词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132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控制全世界内存　·　普通内存条被禁售　·　一条公告=全部法规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57400"/>
            <a:ext cx="7315" cy="37490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52/65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如何摆脱外部控制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2024 年 12 月 2 日</a:t>
            </a:r>
          </a:p>
          <a:p>
            <a:pPr algn="l">
              <a:lnSpc>
                <a:spcPct val="120000"/>
              </a:lnSpc>
            </a:pPr>
            <a:r>
              <a:rPr sz="32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美国 BIS 出口管制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24 类设备、3 类软件、以及 HBM：24 类设备、3 类软件与 HBM</a:t>
            </a:r>
          </a:p>
        </p:txBody>
      </p:sp>
      <p:pic>
        <p:nvPicPr>
          <p:cNvPr id="5" name="Picture 4" descr="图　管制的落点 · 本文绘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19"/>
            <a:ext cx="3977639" cy="2486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4470273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4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图　管制的落点 · 本文绘制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4781169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管制落在设备、软件和 HBM 这类先进环节，不是整条供应链的总开关。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53/65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如何摆脱外部控制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spc="-2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三种常见误解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95728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59689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4203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控制全世界内存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59689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供应横跨韩国、美国等多个国家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474720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675887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2102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普通内存条被禁售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675887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管制落在先进制造环节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553712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79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8A5F2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00016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61615"/>
                </a:solidFill>
                <a:latin typeface="Microsoft YaHei"/>
                <a:ea typeface="Microsoft YaHei"/>
                <a:cs typeface="Microsoft YaHei"/>
              </a:rPr>
              <a:t>一条公告=全部法规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754879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这是历史案例，不是现行法规全量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5632703"/>
            <a:ext cx="10149840" cy="7315"/>
          </a:xfrm>
          <a:prstGeom prst="rect">
            <a:avLst/>
          </a:prstGeom>
          <a:solidFill>
            <a:srgbClr val="DB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92531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判断政策别只看标题：看范围、看生效日期、看有没有豁免。 判断政策要看范围、生效日期与豁免条款，标题往往比原文激烈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54/65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7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7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结论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9052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影响先进环节，</a:t>
            </a:r>
          </a:p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不等于全面禁售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应对方式是多元供应 + 自主验证，不是口号；它影响先进环节，不等于普通内存条被禁售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760720"/>
            <a:ext cx="1280160" cy="10972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55/65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920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→ 下一位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十二个人，一个结论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张舒予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技术、市场、政策，三条线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618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第 57 页起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806440"/>
            <a:ext cx="1014984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56/65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868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spc="14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PART 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6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十二个人，一个结论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A6A49C"/>
                </a:solidFill>
                <a:latin typeface="Microsoft YaHei"/>
                <a:ea typeface="Microsoft YaHei"/>
                <a:cs typeface="Microsoft YaHei"/>
              </a:rPr>
              <a:t>技术、市场、政策，三条线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806440"/>
            <a:ext cx="1280160" cy="109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张舒予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057400"/>
            <a:ext cx="7315" cy="37490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57/65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十二个人，一个结论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85953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性能看瓶颈，</a:t>
            </a:r>
          </a:p>
          <a:p>
            <a:pPr algn="l">
              <a:lnSpc>
                <a:spcPct val="120000"/>
              </a:lnSpc>
            </a:pPr>
            <a:r>
              <a:rPr sz="54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不看参数表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8321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先测再买，是这一条最实用的版本：瓶颈、供给、口径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58/65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十二个人，一个结论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85953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AI 影响供给，</a:t>
            </a:r>
          </a:p>
          <a:p>
            <a:pPr algn="l">
              <a:lnSpc>
                <a:spcPct val="120000"/>
              </a:lnSpc>
            </a:pPr>
            <a:r>
              <a:rPr sz="5400" b="0" spc="-30">
                <a:solidFill>
                  <a:srgbClr val="161615"/>
                </a:solidFill>
                <a:latin typeface="Microsoft YaHei Light"/>
                <a:ea typeface="Microsoft YaHei Light"/>
                <a:cs typeface="Microsoft YaHei Light"/>
              </a:rPr>
              <a:t>但不是唯一原因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617720"/>
            <a:ext cx="8321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价格还受库存、退市、备货和竞争影响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12848"/>
            <a:ext cx="25603" cy="2011680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E6C66"/>
                </a:solidFill>
                <a:latin typeface="Consolas"/>
                <a:ea typeface="Consolas"/>
                <a:cs typeface="Consolas"/>
              </a:rPr>
              <a:t>59/65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结论 /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40280"/>
            <a:ext cx="9052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价格必须带上</a:t>
            </a:r>
          </a:p>
          <a:p>
            <a:pPr algn="l">
              <a:lnSpc>
                <a:spcPct val="122000"/>
              </a:lnSpc>
            </a:pPr>
            <a:r>
              <a:rPr sz="4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对象、时间和口径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9A92"/>
                </a:solidFill>
                <a:latin typeface="Microsoft YaHei"/>
                <a:ea typeface="Microsoft YaHei"/>
                <a:cs typeface="Microsoft YaHei"/>
              </a:rPr>
              <a:t>合约价不是零售价，预测不是结果；把这三句话记住，比记住任何一个数字都有用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5760720"/>
            <a:ext cx="1280160" cy="10972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60/65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6868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B0803A"/>
                </a:solidFill>
                <a:latin typeface="Consolas"/>
                <a:ea typeface="Consolas"/>
                <a:cs typeface="Consolas"/>
              </a:rPr>
              <a:t>案例 / 视频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spc="-30">
                <a:solidFill>
                  <a:srgbClr val="ECEBE6"/>
                </a:solidFill>
                <a:latin typeface="Microsoft YaHei Light"/>
                <a:ea typeface="Microsoft YaHei Light"/>
                <a:cs typeface="Microsoft YaHei Light"/>
              </a:rPr>
              <a:t>一年前 AI，一年后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9560" y="173736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6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内嵌视频 · 1:51</a:t>
            </a:r>
          </a:p>
        </p:txBody>
      </p:sp>
      <p:pic>
        <p:nvPicPr>
          <p:cNvPr id="5" name="ai_compar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5840" y="2606040"/>
            <a:ext cx="6766560" cy="3803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260604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8803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CEBE6"/>
                </a:solidFill>
                <a:latin typeface="Microsoft YaHei"/>
                <a:ea typeface="Microsoft YaHei"/>
                <a:cs typeface="Microsoft YaHei"/>
              </a:rPr>
              <a:t>哔哩哔哩 UP 主 夜清月明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2004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C8A82"/>
                </a:solidFill>
                <a:latin typeface="Consolas"/>
                <a:ea typeface="Consolas"/>
                <a:cs typeface="Consolas"/>
              </a:rPr>
              <a:t>BV1pv421r7Yu　1 分 51 秒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3657600"/>
            <a:ext cx="3108960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3794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200">
                <a:solidFill>
                  <a:srgbClr val="C9A063"/>
                </a:solidFill>
                <a:latin typeface="Consolas"/>
                <a:ea typeface="Consolas"/>
                <a:cs typeface="Consolas"/>
              </a:rPr>
              <a:t>用途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0690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Microsoft YaHei"/>
                <a:cs typeface="Microsoft YaHei"/>
              </a:rPr>
              <a:t>说明公众对 AI 能力变化的直观感受，作为讨论起点；它不替代数据与文献。</a:t>
            </a:r>
          </a:p>
        </p:txBody>
      </p:sp>
      <p:sp>
        <p:nvSpPr>
          <p:cNvPr id="12" name="TextBox 11" descr="内嵌视频：一年前 AI 和一年后 AI（BV1pv421r7Yu，1 分 51 秒）"/>
          <p:cNvSpPr txBox="1"/>
          <p:nvPr/>
        </p:nvSpPr>
        <p:spPr>
          <a:xfrm>
            <a:off x="8229600" y="562356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bilibili.com/video/BV1pv421r7Yu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89788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E8C86"/>
                </a:solidFill>
                <a:latin typeface="Consolas"/>
                <a:ea typeface="Consolas"/>
                <a:cs typeface="Consolas"/>
              </a:rPr>
              <a:t>放映时点击画面播放；空格键可暂停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556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地表最豪小组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55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85837B"/>
                </a:solidFill>
                <a:latin typeface="Consolas"/>
                <a:ea typeface="Consolas"/>
                <a:cs typeface="Consolas"/>
              </a:rPr>
              <a:t>61/65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3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7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2296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803A"/>
                </a:solidFill>
                <a:latin typeface="Consolas"/>
                <a:ea typeface="宋体"/>
              </a:rPr>
              <a:t>TEASER /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F6F5F2"/>
                </a:solidFill>
                <a:latin typeface="Microsoft YaHei Light"/>
                <a:ea typeface="微软雅黑"/>
              </a:rPr>
              <a:t>刚才那段视频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12848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C8A82"/>
                </a:solidFill>
                <a:latin typeface="Microsoft YaHei Light"/>
                <a:ea typeface="微软雅黑"/>
              </a:rPr>
              <a:t>视频里的 AI，是 2024 年 2 月的 AI：生成几秒画面，还会穿帮。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33472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6F5F2"/>
                </a:solidFill>
                <a:latin typeface="Microsoft YaHei Light"/>
                <a:ea typeface="微软雅黑"/>
              </a:rPr>
              <a:t>你刚才看到的，是 2026 年 10 月的 AI：它把一场研究做完了。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246120"/>
            <a:ext cx="10195560" cy="952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45643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6F5F2"/>
                </a:solidFill>
                <a:latin typeface="Microsoft YaHei Light"/>
                <a:ea typeface="微软雅黑"/>
              </a:rPr>
              <a:t>它能读图、能听懂话、能看视频。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13631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6F5F2"/>
                </a:solidFill>
                <a:latin typeface="Microsoft YaHei Light"/>
                <a:ea typeface="微软雅黑"/>
              </a:rPr>
              <a:t>它会查资料、写代码、跑验证。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70831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C8A82"/>
                </a:solidFill>
                <a:latin typeface="Microsoft YaHei Light"/>
                <a:ea typeface="微软雅黑"/>
              </a:rPr>
              <a:t>它也会错——所以最后签字，仍然是人。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5029200"/>
            <a:ext cx="3840480" cy="9525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175504"/>
            <a:ext cx="10195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063"/>
                </a:solidFill>
                <a:latin typeface="Microsoft YaHei"/>
                <a:ea typeface="微软雅黑"/>
              </a:rPr>
              <a:t>那么——这一切，是谁做的？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053328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微软雅黑"/>
              </a:rPr>
              <a:t>翻到下一页。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地表最豪小组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73952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62/65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82296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803A"/>
                </a:solidFill>
                <a:latin typeface="Consolas"/>
                <a:ea typeface="宋体"/>
              </a:rPr>
              <a:t>REVEAL /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8132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C8A82"/>
                </a:solidFill>
                <a:latin typeface="Microsoft YaHei"/>
                <a:ea typeface="微软雅黑"/>
              </a:rPr>
              <a:t>以上 62 页幻灯片 · 14 页论文 · 1.08 万字讲稿 · 动画 · 配乐，全部由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E4BA78"/>
                </a:solidFill>
                <a:latin typeface="Microsoft YaHei"/>
                <a:ea typeface="微软雅黑"/>
              </a:rPr>
              <a:t>DeepSeek-V4.1-Flash 1017 max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852928"/>
            <a:ext cx="10195560" cy="952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962656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C8A82"/>
                </a:solidFill>
                <a:latin typeface="Microsoft YaHei"/>
                <a:ea typeface="微软雅黑"/>
              </a:rPr>
              <a:t>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10128"/>
            <a:ext cx="1033272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E4BA78"/>
                </a:solidFill>
                <a:latin typeface="Microsoft YaHei"/>
                <a:ea typeface="微软雅黑"/>
              </a:rPr>
              <a:t>ChatGPT6 Astra ultra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224528"/>
            <a:ext cx="10195560" cy="952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334256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C8A82"/>
                </a:solidFill>
                <a:latin typeface="Microsoft YaHei"/>
                <a:ea typeface="微软雅黑"/>
              </a:rPr>
              <a:t>制作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60"/>
            <a:ext cx="10195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6F5F2"/>
                </a:solidFill>
                <a:latin typeface="Microsoft YaHei Light"/>
                <a:ea typeface="微软雅黑"/>
              </a:rPr>
              <a:t>你刚才看到的每一页、每一个数字、每一张图，都是 AI 做的。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5669280"/>
            <a:ext cx="3840480" cy="9525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地表最豪小组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73952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ALL CONTENT GENERATED BY AI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82296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803A"/>
                </a:solidFill>
                <a:latin typeface="Consolas"/>
                <a:ea typeface="宋体"/>
              </a:rPr>
              <a:t>WORKLOAD / 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6F5F2"/>
                </a:solidFill>
                <a:latin typeface="Microsoft YaHei Light"/>
                <a:ea typeface="微软雅黑"/>
              </a:rPr>
              <a:t>这次作业的体量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57984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C8A82"/>
                </a:solidFill>
                <a:latin typeface="Microsoft YaHei Light"/>
                <a:ea typeface="微软雅黑"/>
              </a:rPr>
              <a:t>把一场研究，拆成几亿次判断。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47548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4BA78"/>
                </a:solidFill>
                <a:latin typeface="Microsoft YaHei"/>
                <a:ea typeface="微软雅黑"/>
              </a:rPr>
              <a:t>1,629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8A82"/>
                </a:solidFill>
                <a:latin typeface="Microsoft YaHei"/>
                <a:ea typeface="微软雅黑"/>
              </a:rPr>
              <a:t>API 调用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6F5F2"/>
                </a:solidFill>
                <a:latin typeface="Microsoft YaHei"/>
                <a:ea typeface="微软雅黑"/>
              </a:rPr>
              <a:t>620,070,647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8A82"/>
                </a:solidFill>
                <a:latin typeface="Microsoft YaHei"/>
                <a:ea typeface="微软雅黑"/>
              </a:rPr>
              <a:t>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663440"/>
            <a:ext cx="3840480" cy="9525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989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模型 API（匿名）· 2026-10-17 至 10-20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数据来自 API 控制台截图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17550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API 控制台 · 请求次数与 tokens · 10/17–10/20（截图为 10/20 时点）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51052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地表最豪小组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6510528"/>
            <a:ext cx="2423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64/65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6F5F2"/>
                </a:solidFill>
                <a:latin typeface="Microsoft YaHei Light"/>
                <a:ea typeface="微软雅黑"/>
              </a:rPr>
              <a:t>平均每次调用 ≈ 380,657 个 token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8A82"/>
                </a:solidFill>
                <a:latin typeface="Consolas"/>
                <a:ea typeface="微软雅黑"/>
              </a:rPr>
              <a:t>（620,070,647 ÷ 1,629 = 380,657）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8C8A82"/>
                </a:solidFill>
                <a:latin typeface="Microsoft YaHei Light"/>
                <a:ea typeface="微软雅黑"/>
              </a:rPr>
              <a:t>四天里 1,629 次调用——一场研究被拆成一千多步。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1195" y="2642235"/>
            <a:ext cx="5642610" cy="2379847"/>
          </a:xfrm>
          <a:prstGeom prst="rect">
            <a:avLst/>
          </a:prstGeom>
          <a:noFill/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pi-workload-redac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2651760"/>
            <a:ext cx="5623560" cy="226144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82296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803A"/>
                </a:solidFill>
                <a:latin typeface="Consolas"/>
                <a:ea typeface="宋体"/>
              </a:rPr>
              <a:t>END / 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86868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803A"/>
                </a:solidFill>
                <a:latin typeface="Consolas"/>
                <a:ea typeface="宋体"/>
              </a:rPr>
              <a:t>AI 生成声明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F6F5F2"/>
                </a:solidFill>
                <a:latin typeface="Microsoft YaHei Light"/>
                <a:ea typeface="微软雅黑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718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C8A82"/>
                </a:solidFill>
                <a:latin typeface="Microsoft YaHei"/>
                <a:ea typeface="微软雅黑"/>
              </a:rPr>
              <a:t>Q&amp;A　地表最豪小组 · 12 位讲者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611880"/>
            <a:ext cx="1280160" cy="9525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资料：Valve · NVIDIA · TrendForce · 美国 BIS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6110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访问日期 2026-10-18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59028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音乐：Mixkit 免费音乐 · 12 首（轻柔版）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919472"/>
            <a:ext cx="3840480" cy="9525"/>
          </a:xfrm>
          <a:prstGeom prst="rect">
            <a:avLst/>
          </a:prstGeom>
          <a:solidFill>
            <a:srgbClr val="B08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29200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9A063"/>
                </a:solidFill>
                <a:latin typeface="Microsoft YaHei"/>
                <a:ea typeface="微软雅黑"/>
              </a:rPr>
              <a:t>本次研究 100% 由 AI 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94960"/>
            <a:ext cx="9692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8A82"/>
                </a:solidFill>
                <a:latin typeface="Microsoft YaHei"/>
                <a:ea typeface="微软雅黑"/>
              </a:rPr>
              <a:t>研究选题拆解、数据检索、文稿、幻灯片与演讲稿均由 AI 完成；人工仅做方向确认。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47395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地表最豪小组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6473952"/>
            <a:ext cx="2423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C8A82"/>
                </a:solidFill>
                <a:latin typeface="Consolas"/>
                <a:ea typeface="宋体"/>
              </a:rPr>
              <a:t>65/65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3727</Words>
  <Application>Microsoft Office PowerPoint</Application>
  <PresentationFormat>宽屏</PresentationFormat>
  <Paragraphs>844</Paragraphs>
  <Slides>64</Slides>
  <Notes>64</Notes>
  <HiddenSlides>0</HiddenSlides>
  <MMClips>2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0" baseType="lpstr">
      <vt:lpstr>Microsoft YaHei Light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人工智能发展背景下的内存需求与市场变化研究</dc:title>
  <dc:subject/>
  <dc:creator>地表最豪小组</dc:creator>
  <cp:keywords/>
  <dc:description/>
  <cp:lastModifiedBy>地表最豪小组</cp:lastModifiedBy>
  <cp:revision>8</cp:revision>
  <dcterms:created xsi:type="dcterms:W3CDTF">2013-01-27T09:14:16Z</dcterms:created>
  <dcterms:modified xsi:type="dcterms:W3CDTF">2026-10-19T14:58:44Z</dcterms:modified>
  <cp:category/>
</cp:coreProperties>
</file>